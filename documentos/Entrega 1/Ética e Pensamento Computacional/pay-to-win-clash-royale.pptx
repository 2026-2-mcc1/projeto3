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1 abre 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1. Clique para revelar cada cartão.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2. O contador é ilustrativo.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3 encerra.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812781"/>
            <a:ext cx="10566436" cy="502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620440"/>
            <a:ext cx="10566418" cy="442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812781"/>
            <a:ext cx="10566436" cy="502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620440"/>
            <a:ext cx="10566418" cy="442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0" y="0"/>
            <a:ext cx="4064000" cy="4064000"/>
          </a:xfrm>
          <a:prstGeom prst="rect">
            <a:avLst/>
          </a:prstGeom>
        </p:spPr>
      </p:pic>
      <p:pic>
        <p:nvPicPr>
          <p:cNvPr id="3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01000" y="4191000"/>
            <a:ext cx="2667000" cy="266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782" y="2159000"/>
            <a:ext cx="10883429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E PENSAMENTO COMPUTACIONAL · FECAP</a:t>
            </a:r>
            <a:endParaRPr lang="en-US" sz="16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782" y="2697487"/>
            <a:ext cx="8175625" cy="87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para vencer?</a:t>
            </a:r>
            <a:endParaRPr lang="en-US" sz="6400" dirty="0"/>
          </a:p>
        </p:txBody>
      </p:sp>
      <p:sp>
        <p:nvSpPr>
          <p:cNvPr id="6" name="Text 2"/>
          <p:cNvSpPr/>
          <p:nvPr/>
        </p:nvSpPr>
        <p:spPr>
          <a:xfrm>
            <a:off x="812782" y="3804858"/>
            <a:ext cx="7194550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Monetização e ética do consumo no Clash Royale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12782" y="4450051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Alessandro Galvão Silva · Murilo Ribeiro Vasconcellos · Valeska Affonso Marques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jogo é grátis. Quem paga?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82" y="1905000"/>
            <a:ext cx="3352782" cy="3302000"/>
          </a:xfrm>
          <a:prstGeom prst="roundRect">
            <a:avLst>
              <a:gd name="adj" fmla="val 4615"/>
            </a:avLst>
          </a:prstGeom>
          <a:solidFill>
            <a:srgbClr val="12233F"/>
          </a:solidFill>
          <a:ln/>
        </p:spPr>
      </p:sp>
      <p:sp>
        <p:nvSpPr>
          <p:cNvPr id="4" name="Text 2"/>
          <p:cNvSpPr/>
          <p:nvPr/>
        </p:nvSpPr>
        <p:spPr>
          <a:xfrm>
            <a:off x="1066782" y="2159000"/>
            <a:ext cx="2930125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66782" y="2971691"/>
            <a:ext cx="2930125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Free-to-play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66782" y="3362794"/>
            <a:ext cx="2930125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vem de compras, assinaturas e anúncios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9564" y="1905000"/>
            <a:ext cx="3352782" cy="3302000"/>
          </a:xfrm>
          <a:prstGeom prst="roundRect">
            <a:avLst>
              <a:gd name="adj" fmla="val 4615"/>
            </a:avLst>
          </a:prstGeom>
          <a:solidFill>
            <a:srgbClr val="E4572E"/>
          </a:solidFill>
          <a:ln/>
        </p:spPr>
      </p:sp>
      <p:sp>
        <p:nvSpPr>
          <p:cNvPr id="8" name="Text 6"/>
          <p:cNvSpPr/>
          <p:nvPr/>
        </p:nvSpPr>
        <p:spPr>
          <a:xfrm>
            <a:off x="4673564" y="2159000"/>
            <a:ext cx="2930125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73564" y="2971691"/>
            <a:ext cx="2930125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Conflito de interesses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73564" y="3362794"/>
            <a:ext cx="2930125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o jogador gasta, maior o lucro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26346" y="1905000"/>
            <a:ext cx="3352782" cy="3302000"/>
          </a:xfrm>
          <a:prstGeom prst="roundRect">
            <a:avLst>
              <a:gd name="adj" fmla="val 4615"/>
            </a:avLst>
          </a:prstGeom>
          <a:solidFill>
            <a:srgbClr val="F5B8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80346" y="2159000"/>
            <a:ext cx="2930125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80346" y="2971691"/>
            <a:ext cx="2930125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to win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80346" y="3362794"/>
            <a:ext cx="2930125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Dinheiro compra vantagem direta no resultado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782" y="5524499"/>
            <a:ext cx="108833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Clash Royale · Supercell · 2016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2782" y="6238242"/>
            <a:ext cx="3425861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Jogo de cartas e estratégia em tempo real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Urgência artificial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82" y="1905000"/>
            <a:ext cx="5092628" cy="3302000"/>
          </a:xfrm>
          <a:prstGeom prst="roundRect">
            <a:avLst>
              <a:gd name="adj" fmla="val 4615"/>
            </a:avLst>
          </a:prstGeom>
          <a:solidFill>
            <a:srgbClr val="1D3358"/>
          </a:solidFill>
          <a:ln/>
        </p:spPr>
      </p:sp>
      <p:sp>
        <p:nvSpPr>
          <p:cNvPr id="4" name="Text 2"/>
          <p:cNvSpPr/>
          <p:nvPr/>
        </p:nvSpPr>
        <p:spPr>
          <a:xfrm>
            <a:off x="1066782" y="2159000"/>
            <a:ext cx="4722166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66782" y="2971691"/>
            <a:ext cx="4722166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Royale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66782" y="3362793"/>
            <a:ext cx="4722166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mensal. Cancelar parece perder o que já se acumulou.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86500" y="1905000"/>
            <a:ext cx="5092628" cy="3302000"/>
          </a:xfrm>
          <a:prstGeom prst="roundRect">
            <a:avLst>
              <a:gd name="adj" fmla="val 4615"/>
            </a:avLst>
          </a:prstGeom>
          <a:solidFill>
            <a:srgbClr val="1D3358"/>
          </a:solidFill>
          <a:ln/>
        </p:spPr>
      </p:sp>
      <p:sp>
        <p:nvSpPr>
          <p:cNvPr id="8" name="Text 6"/>
          <p:cNvSpPr/>
          <p:nvPr/>
        </p:nvSpPr>
        <p:spPr>
          <a:xfrm>
            <a:off x="6540500" y="2159000"/>
            <a:ext cx="4722166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Ofertas por tempo limitado</a:t>
            </a:r>
            <a:endParaRPr lang="en-US" sz="1900" dirty="0"/>
          </a:p>
        </p:txBody>
      </p:sp>
      <p:pic>
        <p:nvPicPr>
          <p:cNvPr id="9" name="Image 0" descr="web embed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540500" y="2984500"/>
            <a:ext cx="4584628" cy="1270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782" y="5524500"/>
            <a:ext cx="108833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Aversão à perda + pressa que reduz a reflexão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2782" y="6238242"/>
            <a:ext cx="5266134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documental: a frequência real das ofertas não foi medida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Cartas e níveis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82" y="1904998"/>
            <a:ext cx="4445000" cy="29210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782" y="2158998"/>
            <a:ext cx="4055110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66782" y="2971691"/>
            <a:ext cx="4055110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Arenas iniciais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66782" y="3362793"/>
            <a:ext cx="4055110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Pouca diferença de nível</a:t>
            </a:r>
            <a:endParaRPr lang="en-US" sz="15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562564" y="3047998"/>
            <a:ext cx="1066782" cy="635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34128" y="1904998"/>
            <a:ext cx="4445000" cy="2921000"/>
          </a:xfrm>
          <a:prstGeom prst="roundRect">
            <a:avLst>
              <a:gd name="adj" fmla="val 5217"/>
            </a:avLst>
          </a:prstGeom>
          <a:solidFill>
            <a:srgbClr val="12233F"/>
          </a:solidFill>
          <a:ln/>
        </p:spPr>
      </p:sp>
      <p:sp>
        <p:nvSpPr>
          <p:cNvPr id="9" name="Text 6"/>
          <p:cNvSpPr/>
          <p:nvPr/>
        </p:nvSpPr>
        <p:spPr>
          <a:xfrm>
            <a:off x="7188128" y="2158998"/>
            <a:ext cx="4055110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188128" y="2971691"/>
            <a:ext cx="4055110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Arenas altas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188128" y="3362793"/>
            <a:ext cx="4055110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Cartas caras e raras. Sem pagar, o progresso é lento.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2782" y="5143498"/>
            <a:ext cx="108833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Habilidade decide → o nível pesa mais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12782" y="6238242"/>
            <a:ext cx="88343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Frustração calibrada para divertir ou para vender? É inferência do grupo, não prova da intenção da empresa.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Baús: loot box?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82" y="1905000"/>
            <a:ext cx="5092628" cy="2921000"/>
          </a:xfrm>
          <a:prstGeom prst="roundRect">
            <a:avLst>
              <a:gd name="adj" fmla="val 5217"/>
            </a:avLst>
          </a:prstGeom>
          <a:solidFill>
            <a:srgbClr val="1D3358"/>
          </a:solidFill>
          <a:ln/>
        </p:spPr>
      </p:sp>
      <p:sp>
        <p:nvSpPr>
          <p:cNvPr id="4" name="Text 2"/>
          <p:cNvSpPr/>
          <p:nvPr/>
        </p:nvSpPr>
        <p:spPr>
          <a:xfrm>
            <a:off x="1066782" y="2159000"/>
            <a:ext cx="4722166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66782" y="2971691"/>
            <a:ext cx="4722166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Loot box comum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66782" y="3362793"/>
            <a:ext cx="4722166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totalmente oculto. Em geral, itens cosméticos.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86500" y="1905000"/>
            <a:ext cx="5092628" cy="2921000"/>
          </a:xfrm>
          <a:prstGeom prst="roundRect">
            <a:avLst>
              <a:gd name="adj" fmla="val 5217"/>
            </a:avLst>
          </a:prstGeom>
          <a:solidFill>
            <a:srgbClr val="1D3358"/>
          </a:solidFill>
          <a:ln/>
        </p:spPr>
      </p:sp>
      <p:sp>
        <p:nvSpPr>
          <p:cNvPr id="8" name="Text 6"/>
          <p:cNvSpPr/>
          <p:nvPr/>
        </p:nvSpPr>
        <p:spPr>
          <a:xfrm>
            <a:off x="6540500" y="2159000"/>
            <a:ext cx="4722166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40500" y="2971691"/>
            <a:ext cx="4722166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Baú do Clash Royale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40500" y="3362793"/>
            <a:ext cx="4722166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parcialmente aleatório. A recompensa são cartas que dão poder de jogo.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782" y="5143500"/>
            <a:ext cx="108833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 + vantagem competitiva = caso mais delicado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2782" y="6238242"/>
            <a:ext cx="573307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Enquadramento parcial como loot box (PMC, 2025; IDC Games, 2025)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e lei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82" y="1778000"/>
            <a:ext cx="3352782" cy="2095500"/>
          </a:xfrm>
          <a:prstGeom prst="roundRect">
            <a:avLst>
              <a:gd name="adj" fmla="val 7273"/>
            </a:avLst>
          </a:prstGeom>
          <a:solidFill>
            <a:srgbClr val="12233F"/>
          </a:solidFill>
          <a:ln/>
        </p:spPr>
      </p:sp>
      <p:sp>
        <p:nvSpPr>
          <p:cNvPr id="4" name="Text 2"/>
          <p:cNvSpPr/>
          <p:nvPr/>
        </p:nvSpPr>
        <p:spPr>
          <a:xfrm>
            <a:off x="1066782" y="2032000"/>
            <a:ext cx="293012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6782" y="2560203"/>
            <a:ext cx="2930125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Deontológica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66782" y="2951305"/>
            <a:ext cx="2930125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Consumidor como fim, não só como meio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9564" y="1778000"/>
            <a:ext cx="3352782" cy="2095500"/>
          </a:xfrm>
          <a:prstGeom prst="roundRect">
            <a:avLst>
              <a:gd name="adj" fmla="val 7273"/>
            </a:avLst>
          </a:prstGeom>
          <a:solidFill>
            <a:srgbClr val="12233F"/>
          </a:solidFill>
          <a:ln/>
        </p:spPr>
      </p:sp>
      <p:sp>
        <p:nvSpPr>
          <p:cNvPr id="8" name="Text 6"/>
          <p:cNvSpPr/>
          <p:nvPr/>
        </p:nvSpPr>
        <p:spPr>
          <a:xfrm>
            <a:off x="4673564" y="2032000"/>
            <a:ext cx="293012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73564" y="2560203"/>
            <a:ext cx="2930125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Utilitarista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73564" y="2951305"/>
            <a:ext cx="2930125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e diversão contra dano e frustração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26346" y="1778000"/>
            <a:ext cx="3352782" cy="2095500"/>
          </a:xfrm>
          <a:prstGeom prst="roundRect">
            <a:avLst>
              <a:gd name="adj" fmla="val 7273"/>
            </a:avLst>
          </a:prstGeom>
          <a:solidFill>
            <a:srgbClr val="12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8280346" y="2032000"/>
            <a:ext cx="293012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80346" y="2560203"/>
            <a:ext cx="2930125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Computação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80346" y="2951305"/>
            <a:ext cx="2930125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projeta responde por efeitos previsíveis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782" y="4127500"/>
            <a:ext cx="10566346" cy="1841500"/>
          </a:xfrm>
          <a:prstGeom prst="roundRect">
            <a:avLst>
              <a:gd name="adj" fmla="val 8276"/>
            </a:avLst>
          </a:prstGeom>
          <a:solidFill>
            <a:srgbClr val="F5B8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782" y="4381500"/>
            <a:ext cx="10360096" cy="330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 nº 15.211/2025 (ECA Digital) · em vigor desde 17/03/2026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66782" y="4762407"/>
            <a:ext cx="10360096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 geral de proteção online de crianças e adolescentes. Não cita o Clash Royale nem o pay to win. O art. 20 veda loot boxes em jogos para esse público ou de acesso provável por ele. Os baús pagos entram? Questão em aberto.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82" y="1905000"/>
            <a:ext cx="2451064" cy="3048000"/>
          </a:xfrm>
          <a:prstGeom prst="roundRect">
            <a:avLst>
              <a:gd name="adj" fmla="val 6218"/>
            </a:avLst>
          </a:prstGeom>
          <a:solidFill>
            <a:srgbClr val="1D3358"/>
          </a:solidFill>
          <a:ln/>
        </p:spPr>
      </p:sp>
      <p:sp>
        <p:nvSpPr>
          <p:cNvPr id="4" name="Text 2"/>
          <p:cNvSpPr/>
          <p:nvPr/>
        </p:nvSpPr>
        <p:spPr>
          <a:xfrm>
            <a:off x="1066782" y="2159000"/>
            <a:ext cx="2001356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66782" y="2971691"/>
            <a:ext cx="2001356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66782" y="3362793"/>
            <a:ext cx="2001356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conteúdo e chances dos baús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17846" y="1905000"/>
            <a:ext cx="2451064" cy="3048000"/>
          </a:xfrm>
          <a:prstGeom prst="roundRect">
            <a:avLst>
              <a:gd name="adj" fmla="val 6218"/>
            </a:avLst>
          </a:prstGeom>
          <a:solidFill>
            <a:srgbClr val="1D3358"/>
          </a:solidFill>
          <a:ln/>
        </p:spPr>
      </p:sp>
      <p:sp>
        <p:nvSpPr>
          <p:cNvPr id="8" name="Text 6"/>
          <p:cNvSpPr/>
          <p:nvPr/>
        </p:nvSpPr>
        <p:spPr>
          <a:xfrm>
            <a:off x="3771846" y="2159000"/>
            <a:ext cx="2001356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71846" y="2971691"/>
            <a:ext cx="2001356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pressão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71846" y="3362793"/>
            <a:ext cx="2001356" cy="82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contagem regressiva que gera ansiedade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23000" y="1905000"/>
            <a:ext cx="2451064" cy="3048000"/>
          </a:xfrm>
          <a:prstGeom prst="roundRect">
            <a:avLst>
              <a:gd name="adj" fmla="val 6218"/>
            </a:avLst>
          </a:prstGeom>
          <a:solidFill>
            <a:srgbClr val="1D3358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0" y="2159000"/>
            <a:ext cx="2001356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77000" y="2971691"/>
            <a:ext cx="2001356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Jogo justo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77000" y="3362793"/>
            <a:ext cx="2001356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modos com níveis equalizados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28064" y="1905000"/>
            <a:ext cx="2451064" cy="3048000"/>
          </a:xfrm>
          <a:prstGeom prst="roundRect">
            <a:avLst>
              <a:gd name="adj" fmla="val 6218"/>
            </a:avLst>
          </a:prstGeom>
          <a:solidFill>
            <a:srgbClr val="1D3358"/>
          </a:solidFill>
          <a:ln/>
        </p:spPr>
      </p:sp>
      <p:sp>
        <p:nvSpPr>
          <p:cNvPr id="16" name="Text 14"/>
          <p:cNvSpPr/>
          <p:nvPr/>
        </p:nvSpPr>
        <p:spPr>
          <a:xfrm>
            <a:off x="9182064" y="2159000"/>
            <a:ext cx="2001356" cy="73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182064" y="2971691"/>
            <a:ext cx="2001356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82064" y="3362793"/>
            <a:ext cx="2001356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reforçado com menores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782" y="5397497"/>
            <a:ext cx="108833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Lucrar é legítimo. Manipular, não.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y to win em Clash Royale">
  <a:themeElements>
    <a:clrScheme name="Pay to win em Clash Royale">
      <a:dk1>
        <a:srgbClr val="12233F"/>
      </a:dk1>
      <a:lt1>
        <a:srgbClr val="F4F1EA"/>
      </a:lt1>
      <a:dk2>
        <a:srgbClr val="293850"/>
      </a:dk2>
      <a:lt2>
        <a:srgbClr val="BCBEBF"/>
      </a:lt2>
      <a:accent1>
        <a:srgbClr val="F5B82E"/>
      </a:accent1>
      <a:accent2>
        <a:srgbClr val="1D3358"/>
      </a:accent2>
      <a:accent3>
        <a:srgbClr val="E4572E"/>
      </a:accent3>
      <a:accent4>
        <a:srgbClr val="B9C4D6"/>
      </a:accent4>
      <a:accent5>
        <a:srgbClr val="5B6677"/>
      </a:accent5>
      <a:accent6>
        <a:srgbClr val="9AA0A6"/>
      </a:accent6>
      <a:hlink>
        <a:srgbClr val="0563C1"/>
      </a:hlink>
      <a:folHlink>
        <a:srgbClr val="954F72"/>
      </a:folHlink>
    </a:clrScheme>
    <a:fontScheme name="Pay to win em Clash Royal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 to win em Clash Royale</dc:title>
  <dc:subject/>
  <dc:creator/>
  <cp:lastModifiedBy/>
  <cp:revision>1</cp:revision>
  <dcterms:created xsi:type="dcterms:W3CDTF">2026-10-06T23:09:39Z</dcterms:created>
  <dcterms:modified xsi:type="dcterms:W3CDTF">2026-10-06T23:09:39Z</dcterms:modified>
</cp:coreProperties>
</file>